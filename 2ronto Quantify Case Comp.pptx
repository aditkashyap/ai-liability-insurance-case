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690335"/>
            <a:ext cx="29260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2CE"/>
                </a:solidFill>
              </a:defRPr>
            </a:pPr>
            <a:r>
              <a:rPr dirty="0"/>
              <a:t>QUANTIFY 2026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rPr lang="en-US" dirty="0"/>
              <a:t>Team 2ronto</a:t>
            </a:r>
            <a:endParaRPr dirty="0"/>
          </a:p>
          <a:p>
            <a:br>
              <a:rPr dirty="0"/>
            </a:br>
            <a:r>
              <a:rPr lang="en-US" dirty="0">
                <a:solidFill>
                  <a:schemeClr val="bg1"/>
                </a:solidFill>
              </a:rPr>
              <a:t>Adit Kashyap</a:t>
            </a:r>
          </a:p>
          <a:p>
            <a:r>
              <a:rPr lang="en-US" dirty="0">
                <a:solidFill>
                  <a:schemeClr val="bg1"/>
                </a:solidFill>
              </a:rPr>
              <a:t>Advaith </a:t>
            </a:r>
            <a:r>
              <a:rPr lang="en-US" dirty="0" err="1">
                <a:solidFill>
                  <a:schemeClr val="bg1"/>
                </a:solidFill>
              </a:rPr>
              <a:t>Gopaljee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endParaRPr dirty="0"/>
          </a:p>
          <a:p>
            <a:pPr>
              <a:defRPr sz="2000" b="1">
                <a:solidFill>
                  <a:srgbClr val="14233C"/>
                </a:solidFill>
              </a:defRPr>
            </a:pPr>
            <a:r>
              <a:rPr dirty="0"/>
              <a:t>Executive Summary: Strategic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016CA0-743B-08EB-8443-D872E42774E8}"/>
              </a:ext>
            </a:extLst>
          </p:cNvPr>
          <p:cNvSpPr txBox="1"/>
          <p:nvPr/>
        </p:nvSpPr>
        <p:spPr>
          <a:xfrm>
            <a:off x="4970853" y="1843950"/>
            <a:ext cx="676133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AI Liability Insurance Strategy</a:t>
            </a:r>
          </a:p>
          <a:p>
            <a:endParaRPr lang="en-US" sz="4000" dirty="0"/>
          </a:p>
          <a:p>
            <a:r>
              <a:rPr lang="en-US" sz="4000" dirty="0"/>
              <a:t>Prepared for the Board of Directors</a:t>
            </a:r>
          </a:p>
          <a:p>
            <a:r>
              <a:rPr lang="en-US" sz="4000" dirty="0" err="1"/>
              <a:t>TileShield</a:t>
            </a:r>
            <a:r>
              <a:rPr lang="en-US" sz="4000" dirty="0"/>
              <a:t> Insurance (TSI)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PROBLEM FRAME &amp; MARKET OPPORTUNITY</a:t>
            </a:r>
          </a:p>
          <a:p>
            <a:pPr>
              <a:defRPr sz="2000" b="1">
                <a:solidFill>
                  <a:srgbClr val="14233C"/>
                </a:solidFill>
              </a:defRPr>
            </a:pPr>
            <a:r>
              <a:t>Strategic Context: SME AI Disruption and Coverage Gaps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51206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rPr dirty="0"/>
              <a:t>Surging Canadian Business AI Adoption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rPr dirty="0"/>
              <a:t>• Rapid Market Growth: Statistics Canada reports 12.2% of Canadian firms used AI in 2025 (doubling from 6.1% in 2024), with another 14.5% planning adoption within 12 months.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rPr dirty="0"/>
              <a:t>• High-Adoption Client Sectors: Finance &amp; Insurance leads at 30.6% adoption, followed closely by technology, software, online services, and professional services</a:t>
            </a:r>
            <a:r>
              <a:rPr lang="en-US" dirty="0"/>
              <a:t>, </a:t>
            </a:r>
            <a:r>
              <a:rPr dirty="0"/>
              <a:t>TSI's core client base.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rPr dirty="0"/>
              <a:t>• SME Focus: Enterprise adoption outpaces small business (37% active deployment), reinforcing that TSI's mid-market deployers need practical add-on coverage rather than complex enterprise policies.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280160"/>
            <a:ext cx="5212080" cy="5029200"/>
          </a:xfrm>
          <a:prstGeom prst="rect">
            <a:avLst/>
          </a:prstGeom>
          <a:solidFill>
            <a:srgbClr val="EBF2FA"/>
          </a:solidFill>
          <a:ln w="1270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rPr dirty="0"/>
              <a:t>The 'Silent AI' Threat &amp; Coverage Gaps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rPr dirty="0"/>
              <a:t>• Market Retrenchment: Traditional carriers are introducing blanket ISO AI exclusions, cutting off coverage for AI-related operational losses.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rPr dirty="0"/>
              <a:t>• Client Disruption &amp; Retention: TSI's SME clients in digital services, SEO, content, and copywriting face revenue disruption from AI AND new liability exposures from deploying AI tools.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rPr dirty="0"/>
              <a:t>• Strategic Risk of Inaction: Unaddressed AI risks create 'Silent AI' legal ambiguity. Leaving clients uncovered invites competitor poaching from specialty players like Coalition and HSB/Munich 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rPr dirty="0"/>
              <a:t>EXHIBIT A FINANCIAL ASSESSMENT</a:t>
            </a:r>
          </a:p>
          <a:p>
            <a:pPr>
              <a:defRPr sz="2000" b="1">
                <a:solidFill>
                  <a:srgbClr val="14233C"/>
                </a:solidFill>
              </a:defRPr>
            </a:pPr>
            <a:r>
              <a:rPr dirty="0"/>
              <a:t>Portfolio Financial Readiness &amp; Core Line Buffers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833346"/>
              </p:ext>
            </p:extLst>
          </p:nvPr>
        </p:nvGraphicFramePr>
        <p:xfrm>
          <a:off x="731520" y="1280160"/>
          <a:ext cx="9692640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Line of Business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5-Yr Earned Premium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5-Yr Loss Ratio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5-Yr Expense Ratio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5-Yr Combined Ratio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2025 Combined Ratio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rPr dirty="0"/>
                        <a:t>Commercial General Liability (CGL)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$1,039,761.90k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rPr dirty="0"/>
                        <a:t>55.13%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22.00%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77.13%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77.47%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Commercial Auto Liability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$1,058,029.60k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rPr dirty="0"/>
                        <a:t>59.8</a:t>
                      </a:r>
                      <a:r>
                        <a:rPr lang="en-US" dirty="0"/>
                        <a:t>1</a:t>
                      </a:r>
                      <a:r>
                        <a:rPr dirty="0"/>
                        <a:t>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25.00%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84.81%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84.27%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Technology Products Liability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$354,244.70k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rPr lang="en-US" dirty="0"/>
                        <a:t>59</a:t>
                      </a:r>
                      <a:r>
                        <a:rPr dirty="0"/>
                        <a:t>.</a:t>
                      </a:r>
                      <a:r>
                        <a:rPr lang="en-US" dirty="0"/>
                        <a:t>03</a:t>
                      </a:r>
                      <a:r>
                        <a:rPr dirty="0"/>
                        <a:t>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25.00%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84.03%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79.76%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Errors &amp; Omissions (E&amp;O)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$437,662.40k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rPr dirty="0"/>
                        <a:t>6</a:t>
                      </a:r>
                      <a:r>
                        <a:rPr lang="en-US" dirty="0"/>
                        <a:t>0</a:t>
                      </a:r>
                      <a:r>
                        <a:rPr dirty="0"/>
                        <a:t>.</a:t>
                      </a:r>
                      <a:r>
                        <a:rPr lang="en-US" dirty="0"/>
                        <a:t>90</a:t>
                      </a:r>
                      <a:r>
                        <a:rPr dirty="0"/>
                        <a:t>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25.00%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85.90%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81.80%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Cyber Liability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$600,008.00k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rPr dirty="0"/>
                        <a:t>6</a:t>
                      </a:r>
                      <a:r>
                        <a:rPr lang="en-US" dirty="0"/>
                        <a:t>5</a:t>
                      </a:r>
                      <a:r>
                        <a:rPr dirty="0"/>
                        <a:t>.</a:t>
                      </a:r>
                      <a:r>
                        <a:rPr lang="en-US" dirty="0"/>
                        <a:t>19</a:t>
                      </a:r>
                      <a:r>
                        <a:rPr dirty="0"/>
                        <a:t>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28.00%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93.19%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97.64%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TOTAL PORTFOLIO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$3,489,706.60k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58.91%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rPr dirty="0"/>
                        <a:t>2</a:t>
                      </a:r>
                      <a:r>
                        <a:rPr lang="en-US" dirty="0"/>
                        <a:t>1</a:t>
                      </a:r>
                      <a:r>
                        <a:rPr dirty="0"/>
                        <a:t>.</a:t>
                      </a:r>
                      <a:r>
                        <a:rPr lang="en-US" dirty="0"/>
                        <a:t>4</a:t>
                      </a:r>
                      <a:r>
                        <a:rPr dirty="0"/>
                        <a:t>3%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rPr dirty="0"/>
                        <a:t>8</a:t>
                      </a:r>
                      <a:r>
                        <a:rPr lang="en-US" dirty="0"/>
                        <a:t>0</a:t>
                      </a:r>
                      <a:r>
                        <a:rPr dirty="0"/>
                        <a:t>.</a:t>
                      </a:r>
                      <a:r>
                        <a:rPr lang="en-US" dirty="0"/>
                        <a:t>8</a:t>
                      </a:r>
                      <a:r>
                        <a:rPr dirty="0"/>
                        <a:t>2%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rPr dirty="0"/>
                        <a:t>84.</a:t>
                      </a:r>
                      <a:r>
                        <a:rPr lang="en-US" dirty="0"/>
                        <a:t>00</a:t>
                      </a:r>
                      <a:r>
                        <a:rPr dirty="0"/>
                        <a:t>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31520" y="4114800"/>
            <a:ext cx="10728655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4233C"/>
                </a:solidFill>
              </a:defRPr>
            </a:pPr>
            <a:r>
              <a:t>Key Underwriting Insights &amp; Capital Capacity Diagnosis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• Anchor Line Stability: CGL ($1.04B 5-yr EP) and E&amp;O ($437.7M 5-yr EP) generate robust, consistent underwriting profits (Combined Ratios of 77.1% and 85.9%), providing the core capital buffer required to back new underwriting initiatives.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• Cyber Volatility Warning: Cyber Liability experienced severe loss ratio deterioration, pushing its 2025 Combined Ratio to 97.6% as average claim severity expanded from $164.4k (2021) to $299.6k (2025).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• Readiness Verdict: TSI has strong financial capacity to support add-on riders (Option B), but Cyber's margin erosion warns strongly against taking on un-sublimited standalone AI liability (Option 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rPr dirty="0"/>
              <a:t>LINE-BY-LINE VOLATILITY &amp; PREDICTABILITY</a:t>
            </a:r>
          </a:p>
          <a:p>
            <a:pPr>
              <a:defRPr sz="2000" b="1">
                <a:solidFill>
                  <a:srgbClr val="14233C"/>
                </a:solidFill>
              </a:defRPr>
            </a:pPr>
            <a:r>
              <a:rPr dirty="0"/>
              <a:t>Actuarial Stability &amp; Line Selection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6984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Line of Business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Combined Ratio Mean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CR Std Dev (Vol)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Severity Mean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Sev Std Dev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Freq Std Dev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Strategic Fit for AI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Errors &amp; Omissions (E&amp;O)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86.14%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3.02% (Low)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$96,755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$5,414 (Ultra-Low)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0.0030 (Flat)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PRIMARY VEHICLE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Commercial General (CGL)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77.14%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0.38% (Micro)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$78,620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$3,990 (Ultra-Low)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0.0027 (Flat)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SECONDARY VEHICLE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Cyber Liability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92.86%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4.14% (High)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$218,195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$45,029 (Extreme)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0.0552 (Volatile)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HIGH CAUTION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Tech Products Liability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86.38%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7.27% (Extreme)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$212,009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$26,951 (High)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0.0142 (Moderate)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LIMITED FIT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Commercial Auto Liability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84.86%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0.63% (Low)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$106,326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$16,595 (High)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0.0273 (Moderate)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IRRELEVANT TO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31520" y="3840480"/>
            <a:ext cx="52120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4233C"/>
                </a:solidFill>
              </a:defRPr>
            </a:pPr>
            <a:r>
              <a:t>Why E&amp;O is TSI's Premier Specialty Anchor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• Extreme Predictability: E&amp;O claim frequency holds virtually flat (0.1147–0.1201, Std Dev 0.003) and average severity is tightly clustered ($90k–$103k, Std Dev $5.4k). Actuaries can price E&amp;O add-ons with high confidence.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• Specialty Profit Cushion: Turns a steady ~14% underwriting profit margin (Combined Ratio ~86.1%), providing a stable buffer to absorb endorsement claims.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• Target Client Match: E&amp;O clients (tech, legal, marketing, consultants) are the exact SMEs deploying AI tools.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3840480"/>
            <a:ext cx="52120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4233C"/>
                </a:solidFill>
              </a:defRPr>
            </a:pPr>
            <a:r>
              <a:t>Why Commercial Auto is NOT a Model for AI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• Operational Volatility: Despite high premium ($308.8M in 2025) and low average CR (84.9%), Auto experienced severe claim count spikes (claims jumped from 842 to 1,550 in 2024), driving severity to $131.1k.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• High Capital Burden: Auto is a high-frequency physical risk line requiring massive statutory reserves.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• Zero Tech Relevance: Auto provides no technical or underwriting foundation for software/AI liability.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rPr dirty="0"/>
              <a:t>EXHIBIT B INCIDENT DATASET ANALYSIS</a:t>
            </a:r>
          </a:p>
          <a:p>
            <a:pPr>
              <a:defRPr sz="2000" b="1">
                <a:solidFill>
                  <a:srgbClr val="14233C"/>
                </a:solidFill>
              </a:defRPr>
            </a:pPr>
            <a:r>
              <a:rPr dirty="0"/>
              <a:t>AI Liability Risk Insurability &amp; Failure Anatomy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Failure Type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Claim Count (%)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Mean Severity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Median Severity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Max Severity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 Loss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Insurability Verdict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Hallucinated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36 (26.7%)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$151,750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$157,000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$289,000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$5,463,000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HIGHLY INSURABLE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Misinformation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19 (14.1%)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$585,263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$652,000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$1,190,000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$11,120,000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INSURABLE (Sub-Limited)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Algorithmic Bias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26 (19.3%)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$2,792,231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$2,541,500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$5,294,000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$72,598,000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INSURABLE (Sub-Limited)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Cyber Exploitation via AI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17 (12.6%)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$3,671,471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$3,592,000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$7,357,000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$62,415,000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INSURABLE (Cyber Rider)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Privacy and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28 (20.7%)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$4,119,929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$4,084,500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$7,005,000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$115,358,000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INSURABLE (Cyber Rider)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Autonomous System Failure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9 (6.7%)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$19,901,778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$16,454,000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$31,173,000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$179,116,000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UNINSURABLE (EXCLUDE)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31520" y="4114800"/>
            <a:ext cx="10728655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4233C"/>
                </a:solidFill>
              </a:defRPr>
            </a:pPr>
            <a:r>
              <a:t>Insurability Diagnosis: Software Output vs. Physical Tail Risks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• Insurable High-Frequency Perils: Hallucinations (36 claims, max loss $289k) and Misinformation (19 claims, max loss $1.19M) exhibit predictable, bounded loss distributions. These software output errors are prime candidates for endorsement sub-limits.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• Uninsurable Physical Tail Risks: Autonomous System Failures average $19.9M per claim (max $31.2M), making up 40% of all dataset losses from only 9 events. A single claim would wipe out TSI's annual profits; physical autonomous risks MUST be explicitly excluded.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• Conclusion: AI liability is NOT a single monolith. It is insurable ONLY if product scope isolates software errors via sub-limits while carving out physical autonomous hazard.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rPr dirty="0"/>
              <a:t>EXHIBIT B OVERSIGHT ANALYSIS</a:t>
            </a:r>
          </a:p>
          <a:p>
            <a:pPr>
              <a:defRPr sz="2000" b="1">
                <a:solidFill>
                  <a:srgbClr val="14233C"/>
                </a:solidFill>
              </a:defRPr>
            </a:pPr>
            <a:r>
              <a:rPr dirty="0"/>
              <a:t>Human Oversight as an Underwriting Lever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51206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rPr dirty="0"/>
              <a:t>Human-in-the-Loop Severity Impact</a:t>
            </a:r>
          </a:p>
          <a:p>
            <a:br>
              <a:rPr dirty="0"/>
            </a:br>
            <a:r>
              <a:rPr dirty="0"/>
              <a:t>1. Statistical Comparison from Exhibit B: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rPr dirty="0"/>
              <a:t>• No Human Oversight (67 claims): Mean Severity = $4,226,522 | Total Loss = $283.2M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rPr dirty="0"/>
              <a:t>• Human Oversight Active (68 claims): Mean Severity = $2,395,485 | Total Loss = $162.9M</a:t>
            </a:r>
          </a:p>
          <a:p>
            <a:br>
              <a:rPr dirty="0"/>
            </a:br>
            <a:r>
              <a:rPr dirty="0"/>
              <a:t>2. Key Finding:</a:t>
            </a:r>
          </a:p>
          <a:p>
            <a:pPr>
              <a:defRPr sz="1200" b="1">
                <a:solidFill>
                  <a:srgbClr val="323232"/>
                </a:solidFill>
              </a:defRPr>
            </a:pPr>
            <a:r>
              <a:rPr dirty="0"/>
              <a:t>Active human oversight reduces average claim severity by $1,831,037</a:t>
            </a:r>
            <a:r>
              <a:rPr lang="en-US" dirty="0"/>
              <a:t>,</a:t>
            </a:r>
            <a:r>
              <a:rPr dirty="0"/>
              <a:t> a 43.3% reduction in loss severity!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280160"/>
            <a:ext cx="5212080" cy="5029200"/>
          </a:xfrm>
          <a:prstGeom prst="rect">
            <a:avLst/>
          </a:prstGeom>
          <a:solidFill>
            <a:srgbClr val="EBF2FA"/>
          </a:solidFill>
          <a:ln w="1270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Underwriting &amp; Pricing Policy Applications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• Mandatory Underwriting Qualification: TSI will require insureds to maintain documented Human-in-the-Loop (HITL) workflows (e.g. human legal/technical review prior to AI deployment) as a prerequisite for full endorsement coverage.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• Tiered Premium Discounting: Offer preferential pricing or lower deductibles for verified HITL compliance, directly tying risk quality to rate structure.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• Warranty Clauses: Include policy warranties that unmonitored autonomous execution invalidates coverage above base sub-limits.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rPr dirty="0"/>
              <a:t>OPTION EVALUATION</a:t>
            </a:r>
          </a:p>
          <a:p>
            <a:pPr>
              <a:defRPr sz="2000" b="1">
                <a:solidFill>
                  <a:srgbClr val="14233C"/>
                </a:solidFill>
              </a:defRPr>
            </a:pPr>
            <a:r>
              <a:rPr dirty="0"/>
              <a:t>Strategic Options Evaluation &amp; Trade-Off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Dimension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Option A: Standalone Product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Option B: Policy Endorsements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Option C: Build Capability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Speed to Market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Slow (New policy filings)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Fast (Rider on active lines)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None (Delayed entry)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Target Customer Fit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Enterprise Model Developers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TSI Existing SME Deployers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Tail Risk &amp; Capital Req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Extreme (Uncapped limits)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Controlled (Sub-limited)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Zero (Short-term)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Client Retention Impact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High (Protects core book)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Negative (High churn risk)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Operational 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High (New underwriting team)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Low (Leverages current staff)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Moderate (Internal R&amp;D)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23232"/>
                          </a:solidFill>
                        </a:defRPr>
                      </a:pPr>
                      <a:r>
                        <a:t>RECOMMENDATION VERDICT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REJECT (Excessive Tail Risk)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SELECTED STRATEGY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REJECT (Market Displacement)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31520" y="4297680"/>
            <a:ext cx="10728655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4233C"/>
                </a:solidFill>
              </a:defRPr>
            </a:pPr>
            <a:r>
              <a:t>Strategic Justification for Option B Selection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• Why Reject Option A (Standalone): Targets enterprise AI developers building custom models, carries massive uncapped tail risk, and requires filing entirely new policy forms.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• Why Reject Option C (Wait &amp; See): Ignores surging market demand. With Canadian firm adoption doubling to 12.2%, waiting guarantees client churn to agile competitors like Coalition or Munich Re/HSB.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• Why Option B Wins: Perfectly aligns with TSI's customer base of SME deployers using off-the-shelf AI tools, preserving top-line core premiums at minimal regulatory friction.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rPr dirty="0"/>
              <a:t>PRODUCT DESIGN &amp; SPECIFICATIONS</a:t>
            </a:r>
          </a:p>
          <a:p>
            <a:pPr>
              <a:defRPr sz="2000" b="1">
                <a:solidFill>
                  <a:srgbClr val="14233C"/>
                </a:solidFill>
              </a:defRPr>
            </a:pPr>
            <a:r>
              <a:rPr dirty="0"/>
              <a:t>Option B Product Architecture &amp; Endorsement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3291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1. E&amp;O AI Rider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• Perils Covered: Hallucinated output, professional service mistakes in AI advice, algorithmic bias.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• Terms: Legal defense costs + third-party financial settlement.</a:t>
            </a:r>
          </a:p>
          <a:p>
            <a:pPr>
              <a:defRPr sz="1000" b="1">
                <a:solidFill>
                  <a:srgbClr val="0072CE"/>
                </a:solidFill>
              </a:defRPr>
            </a:pPr>
            <a:r>
              <a:t>• Sub-Limit: $250k–$500k per policy year (anchored to Exhibit B hallucination severity).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280160"/>
            <a:ext cx="3291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2. Cyber AI Rider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• Perils Covered: AI-enabled funds-transfer fraud, deepfake executive impersonation, prompt injection leaks.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• Terms: Direct financial loss recovery + forensic investigation costs.</a:t>
            </a:r>
          </a:p>
          <a:p>
            <a:pPr>
              <a:defRPr sz="1000" b="1">
                <a:solidFill>
                  <a:srgbClr val="0072CE"/>
                </a:solidFill>
              </a:defRPr>
            </a:pPr>
            <a:r>
              <a:t>• Sub-Limit: $500k aggregate annual policy cap.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280160"/>
            <a:ext cx="3383280" cy="5029200"/>
          </a:xfrm>
          <a:prstGeom prst="rect">
            <a:avLst/>
          </a:prstGeom>
          <a:solidFill>
            <a:srgbClr val="EBF2FA"/>
          </a:solidFill>
          <a:ln w="1270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rPr dirty="0"/>
              <a:t>3. CGL Rider &amp; Exclusions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rPr dirty="0"/>
              <a:t>• CGL Perils: Advertising injury or third-party non-physical harm from automated business tools ($250k sub-limit).</a:t>
            </a:r>
          </a:p>
          <a:p>
            <a:br>
              <a:rPr dirty="0"/>
            </a:br>
            <a:r>
              <a:rPr dirty="0">
                <a:solidFill>
                  <a:schemeClr val="tx1"/>
                </a:solidFill>
              </a:rPr>
              <a:t>Absolute Policy Exclusions: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rPr dirty="0"/>
              <a:t> 1. Autonomous physical systems (robotics, self-driving vehicles).</a:t>
            </a:r>
            <a:br>
              <a:rPr dirty="0"/>
            </a:br>
            <a:r>
              <a:rPr dirty="0"/>
              <a:t> 2. Intentional discrimination/illegal acts.</a:t>
            </a:r>
            <a:br>
              <a:rPr dirty="0"/>
            </a:br>
            <a:r>
              <a:rPr dirty="0"/>
              <a:t> 3. Core cloud infrastructure outages.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RISK MANAGEMENT FRAMEWORK</a:t>
            </a:r>
          </a:p>
          <a:p>
            <a:pPr>
              <a:defRPr sz="2000" b="1">
                <a:solidFill>
                  <a:srgbClr val="14233C"/>
                </a:solidFill>
              </a:defRPr>
            </a:pPr>
            <a:r>
              <a:t>Assignment 3: Comprehensive Risk Controls &amp; Safeguards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3291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rPr dirty="0"/>
              <a:t>Pillar 1: Accumulation Risk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Threat: Systemic API outage (e.g. OpenAI/Anthropic) triggers simultaneous claims across hundreds of policyholders.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Mitigation Controls: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rPr dirty="0"/>
              <a:t>• Enforce aggregate policy caps.</a:t>
            </a:r>
            <a:br>
              <a:rPr dirty="0"/>
            </a:br>
            <a:r>
              <a:rPr dirty="0"/>
              <a:t>• Purchase 50% Quota-Share Reinsurance for specialty lines to cede systemic tail risk while building internal claims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280160"/>
            <a:ext cx="3291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rPr dirty="0"/>
              <a:t>Pillar 2: Adverse Selection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Threat: High-risk firms deploying untested AI buy endorsements, driving up claim frequency.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Mitigation Controls: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rPr dirty="0"/>
              <a:t>• Deploy standardized AI Underwriting Questionnaire evaluating third-party vs. in-house model usage.</a:t>
            </a:r>
            <a:br>
              <a:rPr dirty="0"/>
            </a:br>
            <a:r>
              <a:rPr dirty="0"/>
              <a:t>• Mandate Human-in-the-Loop operational compliance.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280160"/>
            <a:ext cx="33832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rPr dirty="0"/>
              <a:t>Pillar 3: Silent AI Exposure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Threat: Insureds claim AI losses under base policies without purchasing the rider.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Mitigation Controls: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rPr dirty="0"/>
              <a:t>• Attach explicit AI Exclusion Endorsements across all base policies for clients declining the affirmative rider, eliminating coverage ambiguity.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rPr dirty="0"/>
              <a:t>IMPLEMENTATION ROADMAP</a:t>
            </a:r>
          </a:p>
          <a:p>
            <a:pPr>
              <a:defRPr sz="2000" b="1">
                <a:solidFill>
                  <a:srgbClr val="14233C"/>
                </a:solidFill>
              </a:defRPr>
            </a:pPr>
            <a:r>
              <a:rPr dirty="0"/>
              <a:t>18-Month Phased Rollout Roadmap &amp; Strategic Market Positioning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3291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Phase 1: Setup &amp; Filing</a:t>
            </a:r>
          </a:p>
          <a:p>
            <a:pPr>
              <a:defRPr sz="1100" b="1">
                <a:solidFill>
                  <a:srgbClr val="0072CE"/>
                </a:solidFill>
              </a:defRPr>
            </a:pPr>
            <a:r>
              <a:t>Months 1–3 (Q3–Q4 2026)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• Finalize endorsement rider language and exclusions.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• Set actuarial sub-limits and file riders with Canadian provincial regulators.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• Deploy broker training modules across distribution channels.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280160"/>
            <a:ext cx="3291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Phase 2: Targeted Pilot</a:t>
            </a:r>
          </a:p>
          <a:p>
            <a:pPr>
              <a:defRPr sz="1100" b="1">
                <a:solidFill>
                  <a:srgbClr val="0072CE"/>
                </a:solidFill>
              </a:defRPr>
            </a:pPr>
            <a:r>
              <a:t>Months 4–9 (Q1–Q2 2027)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• Launch E&amp;O and Cyber AI endorsements to top 20% tech/professional SME clients.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• Monitor initial attach rates (target 25%+).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• Refine underwriting questionnaire based on initial submissions.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280160"/>
            <a:ext cx="3383280" cy="5029200"/>
          </a:xfrm>
          <a:prstGeom prst="rect">
            <a:avLst/>
          </a:prstGeom>
          <a:solidFill>
            <a:srgbClr val="EBF2FA"/>
          </a:solidFill>
          <a:ln w="1270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Phase 3: Commercialization</a:t>
            </a:r>
          </a:p>
          <a:p>
            <a:pPr>
              <a:defRPr sz="1100" b="1">
                <a:solidFill>
                  <a:srgbClr val="0072CE"/>
                </a:solidFill>
              </a:defRPr>
            </a:pPr>
            <a:r>
              <a:t>Months 10–18 (Q3–Q4 2027)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• Expand availability across all commercial general liability and specialty accounts.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• Accumulate proprietary internal loss data to refine pricing models.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• Build option value for future standalone products as market matures.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2505</TotalTime>
  <Words>2001</Words>
  <Application>Microsoft Office PowerPoint</Application>
  <PresentationFormat>Widescreen</PresentationFormat>
  <Paragraphs>266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 Kashyap</cp:lastModifiedBy>
  <cp:revision>11</cp:revision>
  <dcterms:created xsi:type="dcterms:W3CDTF">2013-01-27T09:14:16Z</dcterms:created>
  <dcterms:modified xsi:type="dcterms:W3CDTF">2026-08-09T20:03:24Z</dcterms:modified>
  <cp:category/>
</cp:coreProperties>
</file>